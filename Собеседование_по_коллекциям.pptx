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9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Собеседование по коллекциям в языке </a:t>
            </a:r>
            <a:r>
              <a:rPr lang="en-US" dirty="0"/>
              <a:t>Kotlin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1A814F-A570-7CEE-A8A6-14B11DBDE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655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Чем отличаются коллекции</a:t>
            </a:r>
            <a:r>
              <a:rPr lang="en-US" dirty="0"/>
              <a:t> Set </a:t>
            </a:r>
            <a:r>
              <a:rPr lang="ru-RU" dirty="0"/>
              <a:t>и </a:t>
            </a:r>
            <a:r>
              <a:rPr lang="en-US" dirty="0"/>
              <a:t>List?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1A814F-A570-7CEE-A8A6-14B11DBDE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98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4" y="1801368"/>
            <a:ext cx="7315200" cy="3255264"/>
          </a:xfrm>
        </p:spPr>
        <p:txBody>
          <a:bodyPr>
            <a:noAutofit/>
          </a:bodyPr>
          <a:lstStyle/>
          <a:p>
            <a:r>
              <a:rPr lang="en-US" sz="2800" u="sng" dirty="0"/>
              <a:t>List</a:t>
            </a:r>
            <a:br>
              <a:rPr lang="en-US" sz="2800" dirty="0"/>
            </a:br>
            <a:r>
              <a:rPr lang="en-US" sz="2800" dirty="0"/>
              <a:t>1. </a:t>
            </a:r>
            <a:r>
              <a:rPr lang="ru-RU" sz="2800" dirty="0"/>
              <a:t>Может хранить дубликаты</a:t>
            </a:r>
            <a:br>
              <a:rPr lang="ru-RU" sz="2800" dirty="0"/>
            </a:br>
            <a:r>
              <a:rPr lang="en-US" sz="2800" dirty="0"/>
              <a:t>2. </a:t>
            </a:r>
            <a:r>
              <a:rPr lang="ru-RU" sz="2800" dirty="0"/>
              <a:t>Содержит методы для обращения к элементам по индексу</a:t>
            </a:r>
            <a:br>
              <a:rPr lang="ru-RU" sz="2800" dirty="0"/>
            </a:br>
            <a:br>
              <a:rPr lang="ru-RU" sz="2800" dirty="0"/>
            </a:br>
            <a:r>
              <a:rPr lang="en-US" sz="2800" u="sng" dirty="0"/>
              <a:t>Set</a:t>
            </a:r>
            <a:br>
              <a:rPr lang="en-US" sz="2800" dirty="0"/>
            </a:br>
            <a:r>
              <a:rPr lang="en-US" sz="2800" dirty="0"/>
              <a:t>1. </a:t>
            </a:r>
            <a:r>
              <a:rPr lang="ru-RU" sz="2800" dirty="0"/>
              <a:t>Не может хранить дубликаты</a:t>
            </a:r>
            <a:br>
              <a:rPr lang="ru-RU" sz="2800" dirty="0"/>
            </a:br>
            <a:r>
              <a:rPr lang="en-US" sz="2800" dirty="0"/>
              <a:t>2. </a:t>
            </a:r>
            <a:r>
              <a:rPr lang="ru-RU" sz="2800" dirty="0"/>
              <a:t>Не содержит методов для обращения к элементам по индексу</a:t>
            </a:r>
          </a:p>
        </p:txBody>
      </p:sp>
    </p:spTree>
    <p:extLst>
      <p:ext uri="{BB962C8B-B14F-4D97-AF65-F5344CB8AC3E}">
        <p14:creationId xmlns:p14="http://schemas.microsoft.com/office/powerpoint/2010/main" val="213963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Чем отличаются коллекции</a:t>
            </a:r>
            <a:r>
              <a:rPr lang="en-US" dirty="0"/>
              <a:t> </a:t>
            </a:r>
            <a:r>
              <a:rPr lang="en-US" dirty="0" err="1"/>
              <a:t>ArrayList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LinkedList?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1A814F-A570-7CEE-A8A6-14B11DBDE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4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4" y="1801368"/>
            <a:ext cx="7315200" cy="3255264"/>
          </a:xfrm>
        </p:spPr>
        <p:txBody>
          <a:bodyPr anchor="t">
            <a:noAutofit/>
          </a:bodyPr>
          <a:lstStyle/>
          <a:p>
            <a:r>
              <a:rPr lang="en-US" sz="2800" dirty="0" err="1"/>
              <a:t>ArrayList</a:t>
            </a:r>
            <a:r>
              <a:rPr lang="en-US" sz="2800" dirty="0"/>
              <a:t> </a:t>
            </a:r>
            <a:r>
              <a:rPr lang="ru-RU" sz="2800" dirty="0"/>
              <a:t>основан на массиве</a:t>
            </a:r>
            <a:br>
              <a:rPr lang="ru-RU" sz="2800" dirty="0"/>
            </a:br>
            <a:br>
              <a:rPr lang="ru-RU" sz="2800" dirty="0"/>
            </a:br>
            <a:r>
              <a:rPr lang="en-US" sz="2800" dirty="0"/>
              <a:t>LinkedList </a:t>
            </a:r>
            <a:r>
              <a:rPr lang="ru-RU" sz="2800" dirty="0"/>
              <a:t>представляет собой связный список</a:t>
            </a:r>
          </a:p>
        </p:txBody>
      </p:sp>
    </p:spTree>
    <p:extLst>
      <p:ext uri="{BB962C8B-B14F-4D97-AF65-F5344CB8AC3E}">
        <p14:creationId xmlns:p14="http://schemas.microsoft.com/office/powerpoint/2010/main" val="171642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 каких случаях стоит использовать </a:t>
            </a:r>
            <a:r>
              <a:rPr lang="en-US" dirty="0"/>
              <a:t>LinkedList </a:t>
            </a:r>
            <a:r>
              <a:rPr lang="ru-RU" dirty="0"/>
              <a:t>вместо </a:t>
            </a:r>
            <a:r>
              <a:rPr lang="en-US" dirty="0" err="1"/>
              <a:t>ArrayList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884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4" y="1801368"/>
            <a:ext cx="7315200" cy="3255264"/>
          </a:xfrm>
        </p:spPr>
        <p:txBody>
          <a:bodyPr anchor="t">
            <a:noAutofit/>
          </a:bodyPr>
          <a:lstStyle/>
          <a:p>
            <a:r>
              <a:rPr lang="ru-RU" sz="2800" dirty="0"/>
              <a:t>Если приходится часто вставлять или удалять элементы из начала коллекции - </a:t>
            </a:r>
            <a:r>
              <a:rPr lang="en-US" sz="2800" dirty="0"/>
              <a:t>LinkedList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 err="1"/>
              <a:t>ArrayList</a:t>
            </a:r>
            <a:r>
              <a:rPr lang="en-US" sz="2800" dirty="0"/>
              <a:t> </a:t>
            </a:r>
            <a:r>
              <a:rPr lang="ru-RU" sz="2800" dirty="0"/>
              <a:t>используется вместо массивов</a:t>
            </a:r>
          </a:p>
        </p:txBody>
      </p:sp>
    </p:spTree>
    <p:extLst>
      <p:ext uri="{BB962C8B-B14F-4D97-AF65-F5344CB8AC3E}">
        <p14:creationId xmlns:p14="http://schemas.microsoft.com/office/powerpoint/2010/main" val="7268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Перечислите основные реализации коллекций </a:t>
            </a:r>
            <a:r>
              <a:rPr lang="en-US" dirty="0"/>
              <a:t>Set </a:t>
            </a:r>
            <a:r>
              <a:rPr lang="ru-RU" dirty="0"/>
              <a:t>и скажите, чем они отличаются друг от друга</a:t>
            </a:r>
          </a:p>
        </p:txBody>
      </p:sp>
    </p:spTree>
    <p:extLst>
      <p:ext uri="{BB962C8B-B14F-4D97-AF65-F5344CB8AC3E}">
        <p14:creationId xmlns:p14="http://schemas.microsoft.com/office/powerpoint/2010/main" val="205375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4" y="1594624"/>
            <a:ext cx="7315200" cy="3462008"/>
          </a:xfrm>
        </p:spPr>
        <p:txBody>
          <a:bodyPr anchor="t">
            <a:noAutofit/>
          </a:bodyPr>
          <a:lstStyle/>
          <a:p>
            <a:r>
              <a:rPr lang="en-US" sz="2800" u="sng" dirty="0"/>
              <a:t>HashSet</a:t>
            </a:r>
            <a:r>
              <a:rPr lang="en-US" sz="2800" dirty="0"/>
              <a:t> – </a:t>
            </a:r>
            <a:r>
              <a:rPr lang="ru-RU" sz="2800" dirty="0"/>
              <a:t>элементы хранятся беспорядочно. Сложность всех операций в лучшем случае О(1)</a:t>
            </a:r>
            <a:br>
              <a:rPr lang="en-US" sz="2800" dirty="0"/>
            </a:br>
            <a:br>
              <a:rPr lang="ru-RU" sz="2800" dirty="0"/>
            </a:br>
            <a:r>
              <a:rPr lang="en-US" sz="2800" u="sng" dirty="0" err="1"/>
              <a:t>LinkedHashSet</a:t>
            </a:r>
            <a:r>
              <a:rPr lang="en-US" sz="2800" dirty="0"/>
              <a:t> – </a:t>
            </a:r>
            <a:r>
              <a:rPr lang="ru-RU" sz="2800" dirty="0"/>
              <a:t>элементы хранятся в порядке добавления. Сложность всех операций в лучшем случае О(1)</a:t>
            </a:r>
            <a:br>
              <a:rPr lang="en-US" sz="2800" dirty="0"/>
            </a:br>
            <a:br>
              <a:rPr lang="ru-RU" sz="2800" dirty="0"/>
            </a:br>
            <a:r>
              <a:rPr lang="en-US" sz="2800" u="sng" dirty="0" err="1"/>
              <a:t>TreeSet</a:t>
            </a:r>
            <a:r>
              <a:rPr lang="en-US" sz="2800" dirty="0"/>
              <a:t> – </a:t>
            </a:r>
            <a:r>
              <a:rPr lang="ru-RU" sz="2800" dirty="0"/>
              <a:t>элементы хранятся в отсортированном виде. Сложность всех операций в лучшем случае О(</a:t>
            </a:r>
            <a:r>
              <a:rPr lang="en-US" sz="2800" dirty="0" err="1"/>
              <a:t>logN</a:t>
            </a:r>
            <a:r>
              <a:rPr lang="en-US" sz="2800" dirty="0"/>
              <a:t>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5108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Дан следующий класс:</a:t>
            </a:r>
            <a:br>
              <a:rPr lang="ru-RU" sz="3600" dirty="0"/>
            </a:br>
            <a:br>
              <a:rPr lang="ru-RU" sz="3600" dirty="0"/>
            </a:br>
            <a:r>
              <a:rPr lang="en-US" sz="3600" dirty="0"/>
              <a:t>data class User(</a:t>
            </a:r>
            <a:r>
              <a:rPr lang="en-US" sz="3600" dirty="0" err="1"/>
              <a:t>val</a:t>
            </a:r>
            <a:r>
              <a:rPr lang="en-US" sz="3600" dirty="0"/>
              <a:t> id: Int, </a:t>
            </a:r>
            <a:r>
              <a:rPr lang="en-US" sz="3600" dirty="0" err="1"/>
              <a:t>val</a:t>
            </a:r>
            <a:r>
              <a:rPr lang="en-US" sz="3600" dirty="0"/>
              <a:t> age: Int)</a:t>
            </a:r>
            <a:br>
              <a:rPr lang="en-US" sz="3600" dirty="0"/>
            </a:br>
            <a:br>
              <a:rPr lang="en-US" sz="3600" dirty="0"/>
            </a:br>
            <a:r>
              <a:rPr lang="ru-RU" sz="3600" dirty="0"/>
              <a:t>Как будут отсортированы экземпляры этого класса, если мы их добавим в коллекцию </a:t>
            </a:r>
            <a:r>
              <a:rPr lang="en-US" sz="3600" dirty="0" err="1"/>
              <a:t>TreeSet</a:t>
            </a:r>
            <a:r>
              <a:rPr lang="en-US" sz="3600" dirty="0"/>
              <a:t>?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78373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5243" y="1697996"/>
            <a:ext cx="7315200" cy="3462008"/>
          </a:xfrm>
        </p:spPr>
        <p:txBody>
          <a:bodyPr anchor="t">
            <a:noAutofit/>
          </a:bodyPr>
          <a:lstStyle/>
          <a:p>
            <a:r>
              <a:rPr lang="en-US" sz="2800" dirty="0"/>
              <a:t>1. </a:t>
            </a:r>
            <a:r>
              <a:rPr lang="ru-RU" sz="2800" dirty="0"/>
              <a:t>Если не реализован интерфейс </a:t>
            </a:r>
            <a:r>
              <a:rPr lang="en-US" sz="2800" dirty="0" err="1"/>
              <a:t>Comporable</a:t>
            </a:r>
            <a:r>
              <a:rPr lang="ru-RU" sz="2800" dirty="0"/>
              <a:t>,</a:t>
            </a:r>
            <a:r>
              <a:rPr lang="en-US" sz="2800" dirty="0"/>
              <a:t> </a:t>
            </a:r>
            <a:r>
              <a:rPr lang="ru-RU" sz="2800" dirty="0"/>
              <a:t>и при создании коллекции не был передан </a:t>
            </a:r>
            <a:r>
              <a:rPr lang="en-US" sz="2800" dirty="0" err="1"/>
              <a:t>Comporator</a:t>
            </a:r>
            <a:r>
              <a:rPr lang="en-US" sz="2800" dirty="0"/>
              <a:t>, </a:t>
            </a:r>
            <a:r>
              <a:rPr lang="ru-RU" sz="2800" dirty="0"/>
              <a:t>то программа завершится с ошибкой</a:t>
            </a:r>
            <a:br>
              <a:rPr lang="ru-RU" sz="2800" dirty="0"/>
            </a:br>
            <a:br>
              <a:rPr lang="ru-RU" sz="2800" dirty="0"/>
            </a:br>
            <a:r>
              <a:rPr lang="ru-RU" sz="2800" dirty="0"/>
              <a:t>2. Если какое-то из этих условий выполнено, то сортировка будет зависеть от реализации этих интерфейсов</a:t>
            </a:r>
          </a:p>
        </p:txBody>
      </p:sp>
    </p:spTree>
    <p:extLst>
      <p:ext uri="{BB962C8B-B14F-4D97-AF65-F5344CB8AC3E}">
        <p14:creationId xmlns:p14="http://schemas.microsoft.com/office/powerpoint/2010/main" val="1973080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Дан следующий класс:</a:t>
            </a:r>
            <a:br>
              <a:rPr lang="ru-RU" sz="3600" dirty="0"/>
            </a:br>
            <a:br>
              <a:rPr lang="ru-RU" sz="3600" dirty="0"/>
            </a:br>
            <a:r>
              <a:rPr lang="en-US" sz="3600" dirty="0"/>
              <a:t>data class User(</a:t>
            </a:r>
            <a:r>
              <a:rPr lang="en-US" sz="3600" dirty="0" err="1"/>
              <a:t>val</a:t>
            </a:r>
            <a:r>
              <a:rPr lang="en-US" sz="3600" dirty="0"/>
              <a:t> id: Int, </a:t>
            </a:r>
            <a:r>
              <a:rPr lang="en-US" sz="3600" dirty="0" err="1"/>
              <a:t>val</a:t>
            </a:r>
            <a:r>
              <a:rPr lang="en-US" sz="3600" dirty="0"/>
              <a:t> age: Int)</a:t>
            </a:r>
            <a:br>
              <a:rPr lang="en-US" sz="3600" dirty="0"/>
            </a:br>
            <a:br>
              <a:rPr lang="en-US" sz="3600" dirty="0"/>
            </a:br>
            <a:r>
              <a:rPr lang="ru-RU" sz="3600" dirty="0"/>
              <a:t>Как будут отсортированы экземпляры этого класса, если мы их добавим в коллекцию </a:t>
            </a:r>
            <a:r>
              <a:rPr lang="en-US" sz="3600" dirty="0" err="1"/>
              <a:t>TreeMap</a:t>
            </a:r>
            <a:r>
              <a:rPr lang="en-US" sz="3600" dirty="0"/>
              <a:t> </a:t>
            </a:r>
            <a:r>
              <a:rPr lang="ru-RU" sz="3600" dirty="0"/>
              <a:t>в качестве значений</a:t>
            </a:r>
            <a:r>
              <a:rPr lang="en-US" sz="3600" dirty="0"/>
              <a:t>?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884829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5243" y="1697996"/>
            <a:ext cx="7315200" cy="3462008"/>
          </a:xfrm>
        </p:spPr>
        <p:txBody>
          <a:bodyPr anchor="t">
            <a:noAutofit/>
          </a:bodyPr>
          <a:lstStyle/>
          <a:p>
            <a:r>
              <a:rPr lang="ru-RU" sz="2800" dirty="0"/>
              <a:t>Никак. Сортировка происходит на основании ключей в коллекции </a:t>
            </a:r>
            <a:r>
              <a:rPr lang="en-US" sz="2800" dirty="0" err="1"/>
              <a:t>TreeMap</a:t>
            </a:r>
            <a:r>
              <a:rPr lang="en-US" sz="2800" dirty="0"/>
              <a:t>, </a:t>
            </a:r>
            <a:r>
              <a:rPr lang="ru-RU" sz="2800" dirty="0"/>
              <a:t>а не на основании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134554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Зачем нужны методы </a:t>
            </a:r>
            <a:r>
              <a:rPr lang="en-US" sz="4800" dirty="0"/>
              <a:t>equals </a:t>
            </a:r>
            <a:r>
              <a:rPr lang="ru-RU" sz="4800" dirty="0"/>
              <a:t>и </a:t>
            </a:r>
            <a:r>
              <a:rPr lang="en-US" sz="4800" dirty="0" err="1"/>
              <a:t>hashcode</a:t>
            </a:r>
            <a:r>
              <a:rPr lang="en-US" sz="4800" dirty="0"/>
              <a:t>?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200771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5243" y="1697996"/>
            <a:ext cx="7315200" cy="3462008"/>
          </a:xfrm>
        </p:spPr>
        <p:txBody>
          <a:bodyPr anchor="t">
            <a:noAutofit/>
          </a:bodyPr>
          <a:lstStyle/>
          <a:p>
            <a:r>
              <a:rPr lang="en-US" sz="2800" dirty="0"/>
              <a:t>Equals </a:t>
            </a:r>
            <a:r>
              <a:rPr lang="ru-RU" sz="2800" dirty="0"/>
              <a:t>– нужен для сравнения объектов</a:t>
            </a:r>
            <a:br>
              <a:rPr lang="ru-RU" sz="2800" dirty="0"/>
            </a:br>
            <a:br>
              <a:rPr lang="ru-RU" sz="2800" dirty="0"/>
            </a:br>
            <a:r>
              <a:rPr lang="en-US" sz="2800" dirty="0" err="1"/>
              <a:t>Hashcode</a:t>
            </a:r>
            <a:r>
              <a:rPr lang="en-US" sz="2800" dirty="0"/>
              <a:t> – </a:t>
            </a:r>
            <a:r>
              <a:rPr lang="ru-RU" sz="2800" dirty="0"/>
              <a:t>используется для представления любого объекта в виде числа. Используется для определения позиции объекта в хэш-таблице</a:t>
            </a:r>
          </a:p>
        </p:txBody>
      </p:sp>
    </p:spTree>
    <p:extLst>
      <p:ext uri="{BB962C8B-B14F-4D97-AF65-F5344CB8AC3E}">
        <p14:creationId xmlns:p14="http://schemas.microsoft.com/office/powerpoint/2010/main" val="2438128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Перечислите правила для методов </a:t>
            </a:r>
            <a:r>
              <a:rPr lang="en-US" sz="4800" dirty="0"/>
              <a:t>equals </a:t>
            </a:r>
            <a:r>
              <a:rPr lang="ru-RU" sz="4800" dirty="0"/>
              <a:t>и </a:t>
            </a:r>
            <a:r>
              <a:rPr lang="en-US" sz="4800" dirty="0" err="1"/>
              <a:t>hashcode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92461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3" y="1360449"/>
            <a:ext cx="7315200" cy="3598833"/>
          </a:xfrm>
        </p:spPr>
        <p:txBody>
          <a:bodyPr anchor="t">
            <a:noAutofit/>
          </a:bodyPr>
          <a:lstStyle/>
          <a:p>
            <a:r>
              <a:rPr lang="en-US" sz="2800" dirty="0"/>
              <a:t>1. </a:t>
            </a:r>
            <a:r>
              <a:rPr lang="ru-RU" sz="2800" dirty="0"/>
              <a:t>Переопределил </a:t>
            </a:r>
            <a:r>
              <a:rPr lang="en-US" sz="2800" dirty="0"/>
              <a:t>equals – </a:t>
            </a:r>
            <a:r>
              <a:rPr lang="ru-RU" sz="2800" dirty="0"/>
              <a:t>переопредели и </a:t>
            </a:r>
            <a:r>
              <a:rPr lang="en-US" sz="2800" dirty="0" err="1"/>
              <a:t>hashcode</a:t>
            </a:r>
            <a:br>
              <a:rPr lang="en-US" sz="2800" dirty="0"/>
            </a:br>
            <a:br>
              <a:rPr lang="en-US" sz="2800" dirty="0"/>
            </a:br>
            <a:r>
              <a:rPr lang="ru-RU" sz="2800" dirty="0"/>
              <a:t>2.  Если хэш-коды объектов разные, то и объекты точно разные</a:t>
            </a:r>
            <a:br>
              <a:rPr lang="ru-RU" sz="2800" dirty="0"/>
            </a:br>
            <a:br>
              <a:rPr lang="ru-RU" sz="2800" dirty="0"/>
            </a:br>
            <a:r>
              <a:rPr lang="en-US" sz="2800" dirty="0"/>
              <a:t>3. </a:t>
            </a:r>
            <a:r>
              <a:rPr lang="ru-RU" sz="2800" dirty="0"/>
              <a:t>Если объекты равны по </a:t>
            </a:r>
            <a:r>
              <a:rPr lang="en-US" sz="2800" dirty="0"/>
              <a:t>equals, </a:t>
            </a:r>
            <a:r>
              <a:rPr lang="ru-RU" sz="2800" dirty="0"/>
              <a:t>то и хэш-коды у них одинаковые</a:t>
            </a:r>
            <a:br>
              <a:rPr lang="ru-RU" sz="2800" dirty="0"/>
            </a:br>
            <a:br>
              <a:rPr lang="ru-RU" sz="2800" dirty="0"/>
            </a:br>
            <a:r>
              <a:rPr lang="ru-RU" sz="2800" dirty="0"/>
              <a:t>4. Если хэш-коды объектов равны – это еще не значит, что объекты одинаковые.</a:t>
            </a:r>
          </a:p>
        </p:txBody>
      </p:sp>
    </p:spTree>
    <p:extLst>
      <p:ext uri="{BB962C8B-B14F-4D97-AF65-F5344CB8AC3E}">
        <p14:creationId xmlns:p14="http://schemas.microsoft.com/office/powerpoint/2010/main" val="1369691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Могут ли в одной коллекции </a:t>
            </a:r>
            <a:r>
              <a:rPr lang="en-US" sz="4800" dirty="0"/>
              <a:t>Map </a:t>
            </a:r>
            <a:r>
              <a:rPr lang="ru-RU" sz="4800" dirty="0"/>
              <a:t>хранится два одинаковых ключа</a:t>
            </a:r>
            <a:r>
              <a:rPr lang="en-US" sz="4800" dirty="0"/>
              <a:t>/</a:t>
            </a:r>
            <a:r>
              <a:rPr lang="ru-RU" sz="4800" dirty="0"/>
              <a:t>значения?</a:t>
            </a:r>
          </a:p>
        </p:txBody>
      </p:sp>
    </p:spTree>
    <p:extLst>
      <p:ext uri="{BB962C8B-B14F-4D97-AF65-F5344CB8AC3E}">
        <p14:creationId xmlns:p14="http://schemas.microsoft.com/office/powerpoint/2010/main" val="1240342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3" y="1360449"/>
            <a:ext cx="7315200" cy="3598833"/>
          </a:xfrm>
        </p:spPr>
        <p:txBody>
          <a:bodyPr anchor="t">
            <a:noAutofit/>
          </a:bodyPr>
          <a:lstStyle/>
          <a:p>
            <a:r>
              <a:rPr lang="ru-RU" sz="2800" dirty="0"/>
              <a:t>Два одинаковых ключа быть не может, ключи должны быть уникальными. </a:t>
            </a:r>
            <a:br>
              <a:rPr lang="ru-RU" sz="2800" dirty="0"/>
            </a:br>
            <a:br>
              <a:rPr lang="ru-RU" sz="2800" dirty="0"/>
            </a:br>
            <a:r>
              <a:rPr lang="ru-RU" sz="2800" dirty="0"/>
              <a:t>Одинаковых значений может быть сколько угодно</a:t>
            </a:r>
          </a:p>
        </p:txBody>
      </p:sp>
    </p:spTree>
    <p:extLst>
      <p:ext uri="{BB962C8B-B14F-4D97-AF65-F5344CB8AC3E}">
        <p14:creationId xmlns:p14="http://schemas.microsoft.com/office/powerpoint/2010/main" val="4127010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 fontScale="90000"/>
          </a:bodyPr>
          <a:lstStyle/>
          <a:p>
            <a:r>
              <a:rPr lang="ru-RU" sz="4800" dirty="0"/>
              <a:t>Алгоритмическая сложность метода </a:t>
            </a:r>
            <a:r>
              <a:rPr lang="en-US" sz="4800" dirty="0"/>
              <a:t>contains </a:t>
            </a:r>
            <a:r>
              <a:rPr lang="ru-RU" sz="4800" dirty="0"/>
              <a:t>в коллекции </a:t>
            </a:r>
            <a:r>
              <a:rPr lang="en-US" sz="4800" dirty="0"/>
              <a:t>HashSet</a:t>
            </a:r>
            <a:r>
              <a:rPr lang="ru-RU" sz="4800" dirty="0"/>
              <a:t> в лучшем случае</a:t>
            </a:r>
            <a:r>
              <a:rPr lang="en-US" sz="4800" dirty="0"/>
              <a:t> </a:t>
            </a:r>
            <a:r>
              <a:rPr lang="ru-RU" sz="4800" dirty="0"/>
              <a:t>равна О(1). Как удалось добиться такого поведения?</a:t>
            </a:r>
          </a:p>
        </p:txBody>
      </p:sp>
    </p:spTree>
    <p:extLst>
      <p:ext uri="{BB962C8B-B14F-4D97-AF65-F5344CB8AC3E}">
        <p14:creationId xmlns:p14="http://schemas.microsoft.com/office/powerpoint/2010/main" val="3494286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3" y="1360449"/>
            <a:ext cx="7315200" cy="3598833"/>
          </a:xfrm>
        </p:spPr>
        <p:txBody>
          <a:bodyPr anchor="t">
            <a:noAutofit/>
          </a:bodyPr>
          <a:lstStyle/>
          <a:p>
            <a:r>
              <a:rPr lang="ru-RU" sz="2400" dirty="0"/>
              <a:t>В коллекции </a:t>
            </a:r>
            <a:r>
              <a:rPr lang="en-US" sz="2400" dirty="0"/>
              <a:t>HashSet </a:t>
            </a:r>
            <a:r>
              <a:rPr lang="ru-RU" sz="2400" dirty="0"/>
              <a:t>в лучшем случае при вызове метода </a:t>
            </a:r>
            <a:r>
              <a:rPr lang="en-US" sz="2400" dirty="0"/>
              <a:t>contains </a:t>
            </a:r>
            <a:r>
              <a:rPr lang="ru-RU" sz="2400" dirty="0"/>
              <a:t>не происходит перебора элементов в коллекции: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1. У объекта, который передан в качестве параметра получается хэш-код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2. На основании этого хэш-кода мы за одну операцию получаем номер ячейки, в которой этот объект лежит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3. При нормальном распределении и минимальном количестве коллизий в этой ячейке либо будет лежать один объект, либо будет пусто.</a:t>
            </a:r>
          </a:p>
        </p:txBody>
      </p:sp>
    </p:spTree>
    <p:extLst>
      <p:ext uri="{BB962C8B-B14F-4D97-AF65-F5344CB8AC3E}">
        <p14:creationId xmlns:p14="http://schemas.microsoft.com/office/powerpoint/2010/main" val="2170011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 fontScale="90000"/>
          </a:bodyPr>
          <a:lstStyle/>
          <a:p>
            <a:r>
              <a:rPr lang="ru-RU" sz="4800" dirty="0"/>
              <a:t>Можно ли использовать экземпляры класса с изменяемыми свойствами в качестве ключей в коллекции </a:t>
            </a:r>
            <a:r>
              <a:rPr lang="en-US" sz="4800" dirty="0"/>
              <a:t>HashMap? </a:t>
            </a:r>
            <a:r>
              <a:rPr lang="ru-RU" sz="4800" dirty="0"/>
              <a:t>Какие могут быть последствия?</a:t>
            </a:r>
          </a:p>
        </p:txBody>
      </p:sp>
    </p:spTree>
    <p:extLst>
      <p:ext uri="{BB962C8B-B14F-4D97-AF65-F5344CB8AC3E}">
        <p14:creationId xmlns:p14="http://schemas.microsoft.com/office/powerpoint/2010/main" val="3639814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3" y="1360449"/>
            <a:ext cx="7315200" cy="3598833"/>
          </a:xfrm>
        </p:spPr>
        <p:txBody>
          <a:bodyPr anchor="t">
            <a:noAutofit/>
          </a:bodyPr>
          <a:lstStyle/>
          <a:p>
            <a:r>
              <a:rPr lang="ru-RU" sz="2400" dirty="0"/>
              <a:t>1. Использовать можно, но не желательно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2. Если после добавления объекта в коллекцию изменить значение свойства, от которого зависит хэш-код, то коллекция будет работать некорректно. Этот объект нельзя будет найти при помощи метода </a:t>
            </a:r>
            <a:r>
              <a:rPr lang="en-US" sz="2400" dirty="0"/>
              <a:t>contains</a:t>
            </a:r>
            <a:r>
              <a:rPr lang="ru-RU" sz="2400" dirty="0"/>
              <a:t> и его нельзя будет из коллекции удалить</a:t>
            </a:r>
          </a:p>
        </p:txBody>
      </p:sp>
    </p:spTree>
    <p:extLst>
      <p:ext uri="{BB962C8B-B14F-4D97-AF65-F5344CB8AC3E}">
        <p14:creationId xmlns:p14="http://schemas.microsoft.com/office/powerpoint/2010/main" val="3727728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Какой интерфейс находится на вершине иерархии коллекций, и какое у него предназначение?</a:t>
            </a:r>
          </a:p>
        </p:txBody>
      </p:sp>
    </p:spTree>
    <p:extLst>
      <p:ext uri="{BB962C8B-B14F-4D97-AF65-F5344CB8AC3E}">
        <p14:creationId xmlns:p14="http://schemas.microsoft.com/office/powerpoint/2010/main" val="941922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3" y="1360449"/>
            <a:ext cx="7315200" cy="3598833"/>
          </a:xfrm>
        </p:spPr>
        <p:txBody>
          <a:bodyPr anchor="t">
            <a:noAutofit/>
          </a:bodyPr>
          <a:lstStyle/>
          <a:p>
            <a:r>
              <a:rPr lang="ru-RU" sz="2800" dirty="0"/>
              <a:t>На вершине иерархии находится интерфейс </a:t>
            </a:r>
            <a:r>
              <a:rPr lang="en-US" sz="2800" dirty="0" err="1"/>
              <a:t>Iterable</a:t>
            </a:r>
            <a:r>
              <a:rPr lang="en-US" sz="2800" dirty="0"/>
              <a:t>. </a:t>
            </a:r>
            <a:r>
              <a:rPr lang="ru-RU" sz="2800" dirty="0"/>
              <a:t>Он используется в паттерне </a:t>
            </a:r>
            <a:r>
              <a:rPr lang="en-US" sz="2800" dirty="0"/>
              <a:t>Iterator, </a:t>
            </a:r>
            <a:r>
              <a:rPr lang="ru-RU" sz="2800" dirty="0"/>
              <a:t>для того чтобы все элементы коллекции можно было перебирать в цикле </a:t>
            </a:r>
            <a:r>
              <a:rPr lang="en-US" sz="2800" dirty="0"/>
              <a:t>for </a:t>
            </a:r>
            <a:r>
              <a:rPr lang="ru-RU" sz="2800" dirty="0"/>
              <a:t>(</a:t>
            </a:r>
            <a:r>
              <a:rPr lang="en-US" sz="2800" dirty="0" err="1"/>
              <a:t>forEach</a:t>
            </a:r>
            <a:r>
              <a:rPr lang="en-US" sz="2800" dirty="0"/>
              <a:t>)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70158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Почему интерфейс </a:t>
            </a:r>
            <a:r>
              <a:rPr lang="en-US" sz="4800" dirty="0"/>
              <a:t>Map </a:t>
            </a:r>
            <a:r>
              <a:rPr lang="ru-RU" sz="4800" dirty="0"/>
              <a:t>находится вне основной иерархии коллекций?</a:t>
            </a:r>
          </a:p>
        </p:txBody>
      </p:sp>
    </p:spTree>
    <p:extLst>
      <p:ext uri="{BB962C8B-B14F-4D97-AF65-F5344CB8AC3E}">
        <p14:creationId xmlns:p14="http://schemas.microsoft.com/office/powerpoint/2010/main" val="3907423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33" y="1360449"/>
            <a:ext cx="7315200" cy="3598833"/>
          </a:xfrm>
        </p:spPr>
        <p:txBody>
          <a:bodyPr anchor="t">
            <a:noAutofit/>
          </a:bodyPr>
          <a:lstStyle/>
          <a:p>
            <a:r>
              <a:rPr lang="ru-RU" sz="2800" dirty="0"/>
              <a:t>Коллекции </a:t>
            </a:r>
            <a:r>
              <a:rPr lang="en-US" sz="2800" dirty="0"/>
              <a:t>Map </a:t>
            </a:r>
            <a:r>
              <a:rPr lang="ru-RU" sz="2800" dirty="0"/>
              <a:t>работают не с одним объектом, а с парами объектов Ключ-Значение, по этой причине коллекции </a:t>
            </a:r>
            <a:r>
              <a:rPr lang="en-US" sz="2800" dirty="0"/>
              <a:t>Map </a:t>
            </a:r>
            <a:r>
              <a:rPr lang="ru-RU" sz="2800" dirty="0"/>
              <a:t>не могут реализовать методы, объявленные в основной иерархии коллекций.</a:t>
            </a:r>
          </a:p>
        </p:txBody>
      </p:sp>
    </p:spTree>
    <p:extLst>
      <p:ext uri="{BB962C8B-B14F-4D97-AF65-F5344CB8AC3E}">
        <p14:creationId xmlns:p14="http://schemas.microsoft.com/office/powerpoint/2010/main" val="3333114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Какая алгоритмическая сложность операций в коллекции </a:t>
            </a:r>
            <a:r>
              <a:rPr lang="en-US" sz="4800" dirty="0" err="1"/>
              <a:t>ArrayList</a:t>
            </a:r>
            <a:r>
              <a:rPr lang="ru-RU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13095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684E99-6833-FF59-053A-1AC18438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037002"/>
              </p:ext>
            </p:extLst>
          </p:nvPr>
        </p:nvGraphicFramePr>
        <p:xfrm>
          <a:off x="323387" y="956218"/>
          <a:ext cx="8497228" cy="494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843">
                  <a:extLst>
                    <a:ext uri="{9D8B030D-6E8A-4147-A177-3AD203B41FA5}">
                      <a16:colId xmlns:a16="http://schemas.microsoft.com/office/drawing/2014/main" val="86772245"/>
                    </a:ext>
                  </a:extLst>
                </a:gridCol>
                <a:gridCol w="4256385">
                  <a:extLst>
                    <a:ext uri="{9D8B030D-6E8A-4147-A177-3AD203B41FA5}">
                      <a16:colId xmlns:a16="http://schemas.microsoft.com/office/drawing/2014/main" val="2141886961"/>
                    </a:ext>
                  </a:extLst>
                </a:gridCol>
              </a:tblGrid>
              <a:tr h="70650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ArrayList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541172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20899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31600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add(index: Int, 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38435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removeAt</a:t>
                      </a:r>
                      <a:r>
                        <a:rPr lang="en-US" dirty="0"/>
                        <a:t>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99721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39254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0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94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Какая алгоритмическая сложность операций в коллекции </a:t>
            </a:r>
            <a:r>
              <a:rPr lang="en-US" sz="4800" dirty="0"/>
              <a:t>LinkedList</a:t>
            </a:r>
            <a:r>
              <a:rPr lang="ru-RU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4535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684E99-6833-FF59-053A-1AC18438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280955"/>
              </p:ext>
            </p:extLst>
          </p:nvPr>
        </p:nvGraphicFramePr>
        <p:xfrm>
          <a:off x="323387" y="956218"/>
          <a:ext cx="8497228" cy="494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843">
                  <a:extLst>
                    <a:ext uri="{9D8B030D-6E8A-4147-A177-3AD203B41FA5}">
                      <a16:colId xmlns:a16="http://schemas.microsoft.com/office/drawing/2014/main" val="86772245"/>
                    </a:ext>
                  </a:extLst>
                </a:gridCol>
                <a:gridCol w="4256385">
                  <a:extLst>
                    <a:ext uri="{9D8B030D-6E8A-4147-A177-3AD203B41FA5}">
                      <a16:colId xmlns:a16="http://schemas.microsoft.com/office/drawing/2014/main" val="2141886961"/>
                    </a:ext>
                  </a:extLst>
                </a:gridCol>
              </a:tblGrid>
              <a:tr h="70650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LinkedList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541172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20899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31600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add(index: Int, 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O(1)*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38435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removeAt</a:t>
                      </a:r>
                      <a:r>
                        <a:rPr lang="en-US" dirty="0"/>
                        <a:t>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O(1)*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99721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O(1)*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39254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0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645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Какая алгоритмическая сложность операций в коллекции </a:t>
            </a:r>
            <a:r>
              <a:rPr lang="en-US" sz="4800" dirty="0"/>
              <a:t>HashSet</a:t>
            </a:r>
            <a:r>
              <a:rPr lang="ru-RU" sz="4800" dirty="0"/>
              <a:t>/</a:t>
            </a:r>
            <a:r>
              <a:rPr lang="en-US" sz="4800" dirty="0" err="1"/>
              <a:t>LinkedHashSet</a:t>
            </a:r>
            <a:r>
              <a:rPr lang="ru-RU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8218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684E99-6833-FF59-053A-1AC18438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35115"/>
              </p:ext>
            </p:extLst>
          </p:nvPr>
        </p:nvGraphicFramePr>
        <p:xfrm>
          <a:off x="323387" y="956218"/>
          <a:ext cx="8497228" cy="494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843">
                  <a:extLst>
                    <a:ext uri="{9D8B030D-6E8A-4147-A177-3AD203B41FA5}">
                      <a16:colId xmlns:a16="http://schemas.microsoft.com/office/drawing/2014/main" val="86772245"/>
                    </a:ext>
                  </a:extLst>
                </a:gridCol>
                <a:gridCol w="4256385">
                  <a:extLst>
                    <a:ext uri="{9D8B030D-6E8A-4147-A177-3AD203B41FA5}">
                      <a16:colId xmlns:a16="http://schemas.microsoft.com/office/drawing/2014/main" val="2141886961"/>
                    </a:ext>
                  </a:extLst>
                </a:gridCol>
              </a:tblGrid>
              <a:tr h="70650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HashSet/</a:t>
                      </a:r>
                      <a:r>
                        <a:rPr lang="en-US" dirty="0" err="1"/>
                        <a:t>LinkedHashSet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541172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O(1)/O(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20899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31600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add(index: Int, 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38435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removeAt</a:t>
                      </a:r>
                      <a:r>
                        <a:rPr lang="en-US" dirty="0"/>
                        <a:t>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99721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O(1)/O(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39254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O(1)/O(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0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03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Какая алгоритмическая сложность операций в коллекции </a:t>
            </a:r>
            <a:r>
              <a:rPr lang="en-US" sz="4800" dirty="0" err="1"/>
              <a:t>TreeSet</a:t>
            </a:r>
            <a:r>
              <a:rPr lang="ru-RU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37800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684E99-6833-FF59-053A-1AC18438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425065"/>
              </p:ext>
            </p:extLst>
          </p:nvPr>
        </p:nvGraphicFramePr>
        <p:xfrm>
          <a:off x="323387" y="956218"/>
          <a:ext cx="8497228" cy="494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843">
                  <a:extLst>
                    <a:ext uri="{9D8B030D-6E8A-4147-A177-3AD203B41FA5}">
                      <a16:colId xmlns:a16="http://schemas.microsoft.com/office/drawing/2014/main" val="86772245"/>
                    </a:ext>
                  </a:extLst>
                </a:gridCol>
                <a:gridCol w="4256385">
                  <a:extLst>
                    <a:ext uri="{9D8B030D-6E8A-4147-A177-3AD203B41FA5}">
                      <a16:colId xmlns:a16="http://schemas.microsoft.com/office/drawing/2014/main" val="2141886961"/>
                    </a:ext>
                  </a:extLst>
                </a:gridCol>
              </a:tblGrid>
              <a:tr h="70650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TreeSet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541172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20899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31600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add(index: Int, 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38435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removeAt</a:t>
                      </a:r>
                      <a:r>
                        <a:rPr lang="en-US" dirty="0"/>
                        <a:t>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99721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39254"/>
                  </a:ext>
                </a:extLst>
              </a:tr>
              <a:tr h="706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contains(element: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0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207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Какая алгоритмическая сложность операций в коллекции </a:t>
            </a:r>
            <a:r>
              <a:rPr lang="en-US" sz="4800" dirty="0"/>
              <a:t>HashMap/</a:t>
            </a:r>
            <a:r>
              <a:rPr lang="en-US" sz="4800" dirty="0" err="1"/>
              <a:t>LinkedHashMap</a:t>
            </a:r>
            <a:r>
              <a:rPr lang="ru-RU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9469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684E99-6833-FF59-053A-1AC18438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59893"/>
              </p:ext>
            </p:extLst>
          </p:nvPr>
        </p:nvGraphicFramePr>
        <p:xfrm>
          <a:off x="323387" y="956218"/>
          <a:ext cx="8474925" cy="492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712">
                  <a:extLst>
                    <a:ext uri="{9D8B030D-6E8A-4147-A177-3AD203B41FA5}">
                      <a16:colId xmlns:a16="http://schemas.microsoft.com/office/drawing/2014/main" val="86772245"/>
                    </a:ext>
                  </a:extLst>
                </a:gridCol>
                <a:gridCol w="4245213">
                  <a:extLst>
                    <a:ext uri="{9D8B030D-6E8A-4147-A177-3AD203B41FA5}">
                      <a16:colId xmlns:a16="http://schemas.microsoft.com/office/drawing/2014/main" val="2141886961"/>
                    </a:ext>
                  </a:extLst>
                </a:gridCol>
              </a:tblGrid>
              <a:tr h="61505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HashMap/</a:t>
                      </a:r>
                      <a:r>
                        <a:rPr lang="en-US" dirty="0" err="1"/>
                        <a:t>LinkedHashMap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541172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put(key: K, value: V)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 / 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20899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get(key: 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O(1)/O(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31600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add(index: Int, 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38435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removeAt</a:t>
                      </a:r>
                      <a:r>
                        <a:rPr lang="en-US" dirty="0"/>
                        <a:t>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99721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remove(key: 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O(1)/O(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39254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containsKey</a:t>
                      </a:r>
                      <a:r>
                        <a:rPr lang="en-US" dirty="0"/>
                        <a:t>(key: 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O(1)/O(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02677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containsValue</a:t>
                      </a:r>
                      <a:r>
                        <a:rPr lang="en-US" dirty="0"/>
                        <a:t>(value: V)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331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929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Какая алгоритмическая сложность операций в коллекции </a:t>
            </a:r>
            <a:r>
              <a:rPr lang="en-US" sz="4800" dirty="0" err="1"/>
              <a:t>TreeMap</a:t>
            </a:r>
            <a:r>
              <a:rPr lang="ru-RU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764348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684E99-6833-FF59-053A-1AC18438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391510"/>
              </p:ext>
            </p:extLst>
          </p:nvPr>
        </p:nvGraphicFramePr>
        <p:xfrm>
          <a:off x="323387" y="956218"/>
          <a:ext cx="8474925" cy="492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712">
                  <a:extLst>
                    <a:ext uri="{9D8B030D-6E8A-4147-A177-3AD203B41FA5}">
                      <a16:colId xmlns:a16="http://schemas.microsoft.com/office/drawing/2014/main" val="86772245"/>
                    </a:ext>
                  </a:extLst>
                </a:gridCol>
                <a:gridCol w="4245213">
                  <a:extLst>
                    <a:ext uri="{9D8B030D-6E8A-4147-A177-3AD203B41FA5}">
                      <a16:colId xmlns:a16="http://schemas.microsoft.com/office/drawing/2014/main" val="2141886961"/>
                    </a:ext>
                  </a:extLst>
                </a:gridCol>
              </a:tblGrid>
              <a:tr h="615059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TreeMap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541172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put(key: K, value: V)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620899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get(key: 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731600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add(index: Int, element: 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38435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removeAt</a:t>
                      </a:r>
                      <a:r>
                        <a:rPr lang="en-US" dirty="0"/>
                        <a:t>(index: Int)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99721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remove(key: 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39254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containsKey</a:t>
                      </a:r>
                      <a:r>
                        <a:rPr lang="en-US" dirty="0"/>
                        <a:t>(key: 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02677"/>
                  </a:ext>
                </a:extLst>
              </a:tr>
              <a:tr h="61505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containsValue</a:t>
                      </a:r>
                      <a:r>
                        <a:rPr lang="en-US" dirty="0"/>
                        <a:t>(value: V)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331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54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61BC-FBCA-BE68-BA6D-81DF8FC7C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999" y="1801368"/>
            <a:ext cx="7315200" cy="3255264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Мы вам перезвоним!</a:t>
            </a:r>
          </a:p>
        </p:txBody>
      </p:sp>
    </p:spTree>
    <p:extLst>
      <p:ext uri="{BB962C8B-B14F-4D97-AF65-F5344CB8AC3E}">
        <p14:creationId xmlns:p14="http://schemas.microsoft.com/office/powerpoint/2010/main" val="1054832154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Рамка</Template>
  <TotalTime>114</TotalTime>
  <Words>1156</Words>
  <Application>Microsoft Macintosh PowerPoint</Application>
  <PresentationFormat>Широкоэкранный</PresentationFormat>
  <Paragraphs>116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3" baseType="lpstr">
      <vt:lpstr>Corbel</vt:lpstr>
      <vt:lpstr>Wingdings 2</vt:lpstr>
      <vt:lpstr>Рамка</vt:lpstr>
      <vt:lpstr>Собеседование по коллекциям в языке Kotlin</vt:lpstr>
      <vt:lpstr>Чем отличаются коллекции Set и List?</vt:lpstr>
      <vt:lpstr>List 1. Может хранить дубликаты 2. Содержит методы для обращения к элементам по индексу  Set 1. Не может хранить дубликаты 2. Не содержит методов для обращения к элементам по индексу</vt:lpstr>
      <vt:lpstr>Чем отличаются коллекции ArrayList и LinkedList?</vt:lpstr>
      <vt:lpstr>ArrayList основан на массиве  LinkedList представляет собой связный список</vt:lpstr>
      <vt:lpstr>В каких случаях стоит использовать LinkedList вместо ArrayList?</vt:lpstr>
      <vt:lpstr>Если приходится часто вставлять или удалять элементы из начала коллекции - LinkedList  ArrayList используется вместо массивов</vt:lpstr>
      <vt:lpstr>Перечислите основные реализации коллекций Set и скажите, чем они отличаются друг от друга</vt:lpstr>
      <vt:lpstr>HashSet – элементы хранятся беспорядочно. Сложность всех операций в лучшем случае О(1)  LinkedHashSet – элементы хранятся в порядке добавления. Сложность всех операций в лучшем случае О(1)  TreeSet – элементы хранятся в отсортированном виде. Сложность всех операций в лучшем случае О(logN)</vt:lpstr>
      <vt:lpstr>Дан следующий класс:  data class User(val id: Int, val age: Int)  Как будут отсортированы экземпляры этого класса, если мы их добавим в коллекцию TreeSet?</vt:lpstr>
      <vt:lpstr>1. Если не реализован интерфейс Comporable, и при создании коллекции не был передан Comporator, то программа завершится с ошибкой  2. Если какое-то из этих условий выполнено, то сортировка будет зависеть от реализации этих интерфейсов</vt:lpstr>
      <vt:lpstr>Дан следующий класс:  data class User(val id: Int, val age: Int)  Как будут отсортированы экземпляры этого класса, если мы их добавим в коллекцию TreeMap в качестве значений?</vt:lpstr>
      <vt:lpstr>Никак. Сортировка происходит на основании ключей в коллекции TreeMap, а не на основании значений.</vt:lpstr>
      <vt:lpstr>Зачем нужны методы equals и hashcode?</vt:lpstr>
      <vt:lpstr>Equals – нужен для сравнения объектов  Hashcode – используется для представления любого объекта в виде числа. Используется для определения позиции объекта в хэш-таблице</vt:lpstr>
      <vt:lpstr>Перечислите правила для методов equals и hashcode</vt:lpstr>
      <vt:lpstr>1. Переопределил equals – переопредели и hashcode  2.  Если хэш-коды объектов разные, то и объекты точно разные  3. Если объекты равны по equals, то и хэш-коды у них одинаковые  4. Если хэш-коды объектов равны – это еще не значит, что объекты одинаковые.</vt:lpstr>
      <vt:lpstr>Могут ли в одной коллекции Map хранится два одинаковых ключа/значения?</vt:lpstr>
      <vt:lpstr>Два одинаковых ключа быть не может, ключи должны быть уникальными.   Одинаковых значений может быть сколько угодно</vt:lpstr>
      <vt:lpstr>Алгоритмическая сложность метода contains в коллекции HashSet в лучшем случае равна О(1). Как удалось добиться такого поведения?</vt:lpstr>
      <vt:lpstr>В коллекции HashSet в лучшем случае при вызове метода contains не происходит перебора элементов в коллекции:  1. У объекта, который передан в качестве параметра получается хэш-код  2. На основании этого хэш-кода мы за одну операцию получаем номер ячейки, в которой этот объект лежит  3. При нормальном распределении и минимальном количестве коллизий в этой ячейке либо будет лежать один объект, либо будет пусто.</vt:lpstr>
      <vt:lpstr>Можно ли использовать экземпляры класса с изменяемыми свойствами в качестве ключей в коллекции HashMap? Какие могут быть последствия?</vt:lpstr>
      <vt:lpstr>1. Использовать можно, но не желательно  2. Если после добавления объекта в коллекцию изменить значение свойства, от которого зависит хэш-код, то коллекция будет работать некорректно. Этот объект нельзя будет найти при помощи метода contains и его нельзя будет из коллекции удалить</vt:lpstr>
      <vt:lpstr>Какой интерфейс находится на вершине иерархии коллекций, и какое у него предназначение?</vt:lpstr>
      <vt:lpstr>На вершине иерархии находится интерфейс Iterable. Он используется в паттерне Iterator, для того чтобы все элементы коллекции можно было перебирать в цикле for (forEach) </vt:lpstr>
      <vt:lpstr>Почему интерфейс Map находится вне основной иерархии коллекций?</vt:lpstr>
      <vt:lpstr>Коллекции Map работают не с одним объектом, а с парами объектов Ключ-Значение, по этой причине коллекции Map не могут реализовать методы, объявленные в основной иерархии коллекций.</vt:lpstr>
      <vt:lpstr>Какая алгоритмическая сложность операций в коллекции ArrayList?</vt:lpstr>
      <vt:lpstr>Презентация PowerPoint</vt:lpstr>
      <vt:lpstr>Какая алгоритмическая сложность операций в коллекции LinkedList?</vt:lpstr>
      <vt:lpstr>Презентация PowerPoint</vt:lpstr>
      <vt:lpstr>Какая алгоритмическая сложность операций в коллекции HashSet/LinkedHashSet?</vt:lpstr>
      <vt:lpstr>Презентация PowerPoint</vt:lpstr>
      <vt:lpstr>Какая алгоритмическая сложность операций в коллекции TreeSet?</vt:lpstr>
      <vt:lpstr>Презентация PowerPoint</vt:lpstr>
      <vt:lpstr>Какая алгоритмическая сложность операций в коллекции HashMap/LinkedHashMap?</vt:lpstr>
      <vt:lpstr>Презентация PowerPoint</vt:lpstr>
      <vt:lpstr>Какая алгоритмическая сложность операций в коллекции TreeMap?</vt:lpstr>
      <vt:lpstr>Презентация PowerPoint</vt:lpstr>
      <vt:lpstr>Мы вам перезвоним!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Чем отличаются коллекции Set и List?</dc:title>
  <dc:creator>Microsoft Office User</dc:creator>
  <cp:lastModifiedBy>Microsoft Office User</cp:lastModifiedBy>
  <cp:revision>6</cp:revision>
  <dcterms:created xsi:type="dcterms:W3CDTF">2024-10-10T19:49:55Z</dcterms:created>
  <dcterms:modified xsi:type="dcterms:W3CDTF">2024-10-10T21:46:33Z</dcterms:modified>
</cp:coreProperties>
</file>